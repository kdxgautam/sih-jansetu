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7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4.png"/><Relationship Id="rId10" Type="http://schemas.openxmlformats.org/officeDocument/2006/relationships/image" Target="../media/image5.svg"/><Relationship Id="rId11" Type="http://schemas.openxmlformats.org/officeDocument/2006/relationships/image" Target="../media/image2.png"/><Relationship Id="rId12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ed-app-pearl.vercel.app/landing" TargetMode="External"/><Relationship Id="rId3" Type="http://schemas.openxmlformats.org/officeDocument/2006/relationships/hyperlink" Target="https://youtu.be/1pxsk8G07zY" TargetMode="External"/><Relationship Id="rId4" Type="http://schemas.openxmlformats.org/officeDocument/2006/relationships/hyperlink" Target="https://github.com/PranshuLakhotia/CredApp" TargetMode="External"/><Relationship Id="rId5" Type="http://schemas.openxmlformats.org/officeDocument/2006/relationships/hyperlink" Target="https://github.com/ishaanxgupta/CredApp" TargetMode="External"/><Relationship Id="rId6" Type="http://schemas.openxmlformats.org/officeDocument/2006/relationships/hyperlink" Target="https://github.com/Vivekgupta008/CredApp-blockchain" TargetMode="External"/><Relationship Id="rId7" Type="http://schemas.openxmlformats.org/officeDocument/2006/relationships/hyperlink" Target="https://www.sciencedirect.com/science/article/abs/pii/S095070512201334X" TargetMode="External"/><Relationship Id="rId8" Type="http://schemas.openxmlformats.org/officeDocument/2006/relationships/hyperlink" Target="https://trepo.tuni.fi/bitstream/handle/10024/124188/HanafyAhmed.pdf?sequence=2" TargetMode="External"/><Relationship Id="rId9" Type="http://schemas.openxmlformats.org/officeDocument/2006/relationships/hyperlink" Target="https://www.nielit.gov.in/content/nsqf-it" TargetMode="External"/><Relationship Id="rId10" Type="http://schemas.openxmlformats.org/officeDocument/2006/relationships/hyperlink" Target="https://ncvet.gov.in/guidelines/" TargetMode="External"/><Relationship Id="rId11" Type="http://schemas.openxmlformats.org/officeDocument/2006/relationships/hyperlink" Target="https://www.w3.org/TR/vc-data-model/" TargetMode="External"/><Relationship Id="rId1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name="Freeform 2" id="2"/>
          <p:cNvSpPr/>
          <p:nvPr/>
        </p:nvSpPr>
        <p:spPr>
          <a:xfrm flipH="false" flipV="false" rot="0">
            <a:off x="12358339" y="2568709"/>
            <a:ext cx="4180416" cy="4639827"/>
          </a:xfrm>
          <a:custGeom>
            <a:avLst/>
            <a:gdLst/>
            <a:ahLst/>
            <a:cxnLst/>
            <a:rect r="r" b="b" t="t" l="l"/>
            <a:pathLst>
              <a:path h="4639827" w="4180416">
                <a:moveTo>
                  <a:pt x="0" y="0"/>
                </a:moveTo>
                <a:lnTo>
                  <a:pt x="4180415" y="0"/>
                </a:lnTo>
                <a:lnTo>
                  <a:pt x="4180415" y="4639827"/>
                </a:lnTo>
                <a:lnTo>
                  <a:pt x="0" y="463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8891" b="0"/>
            </a:stretch>
          </a:blipFill>
        </p:spPr>
      </p:sp>
      <p:sp>
        <p:nvSpPr>
          <p:cNvPr id="3" name="Rectangle 2"/>
          <p:cNvSpPr/>
          <p:nvPr/>
        </p:nvSpPr>
        <p:spPr>
          <a:xfrm>
            <a:off x="731520" y="1508760"/>
            <a:ext cx="146304" cy="7543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3441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0A0A0A"/>
                </a:solidFill>
                <a:latin typeface="Noto Sans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8132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FA7"/>
                </a:solidFill>
                <a:latin typeface="Noto Sans Mono"/>
              </a:rPr>
              <a:t>PS 26043 / SMART EDUCATION /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56816"/>
            <a:ext cx="8412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>
                <a:solidFill>
                  <a:srgbClr val="0A0A0A"/>
                </a:solidFill>
                <a:latin typeface="Noto Sans"/>
              </a:rPr>
              <a:t>JANSETU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87782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525252"/>
                </a:solidFill>
                <a:latin typeface="Noto Sans"/>
              </a:rPr>
              <a:t>Community challenges to validated solutions.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4498848"/>
            <a:ext cx="8503920" cy="0"/>
          </a:xfrm>
          <a:prstGeom prst="line">
            <a:avLst/>
          </a:prstGeom>
          <a:ln w="1270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480060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Noto Sans"/>
              </a:rPr>
              <a:t>A bilingual platform to crowdsource local problems and coordinate Government, universities and industry through one accountable lifecycle.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1014984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25252"/>
                </a:solidFill>
                <a:latin typeface="Noto Sans Mono"/>
              </a:rPr>
              <a:t>Organization  Government of Jharkhand
Department   Higher &amp; Technical Education
Team         BilluSena
Team ID      [Registered Team ID]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8549640"/>
            <a:ext cx="3291840" cy="4937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857707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Mono"/>
              </a:rPr>
              <a:t>WORKING MVP · DEPLOYED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01168"/>
            <a:ext cx="1508760" cy="475488"/>
          </a:xfrm>
          <a:prstGeom prst="rect">
            <a:avLst/>
          </a:prstGeom>
          <a:solidFill>
            <a:srgbClr val="FAFAF8"/>
          </a:solidFill>
          <a:ln w="1524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194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BILLUSENA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28016"/>
            <a:ext cx="1344168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A0A0A"/>
                </a:solidFill>
                <a:latin typeface="Noto Sans"/>
              </a:rPr>
              <a:t>IDEA TITLE / PROPOSED SOLUTION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804672"/>
            <a:ext cx="13487400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9893808"/>
            <a:ext cx="18288000" cy="3931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99395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BilluSena · JanSetu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59" y="99395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02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682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FA7"/>
                </a:solidFill>
                <a:latin typeface="Noto Sans Mono"/>
              </a:rPr>
              <a:t>ONE PLATFORM · ONE ACCOUNTABLE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72768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19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70078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13055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Report need + evidence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62272" y="2066543"/>
            <a:ext cx="338328" cy="274320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572768"/>
            <a:ext cx="3657600" cy="13258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7" y="1719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170078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Mono"/>
              </a:rPr>
              <a:t>GOVERNMENT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7" y="213055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Noto Sans"/>
              </a:rPr>
              <a:t>Review + bilingual public copy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22792" y="2066543"/>
            <a:ext cx="338328" cy="274320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572768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719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170078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HEI /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13055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Accept assignment + form team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2783312" y="2066543"/>
            <a:ext cx="338328" cy="274320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213080" y="1572768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14248" y="1719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54328" y="170078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PROJECT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14248" y="213055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Proposal + faculty/student roster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6962120" y="3044952"/>
            <a:ext cx="274320" cy="493776"/>
          </a:xfrm>
          <a:prstGeom prst="down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213080" y="3675887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14248" y="3822191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54328" y="3803903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INDUSTRY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14248" y="423367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Mentorship · funding · pilot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12801600" y="4169663"/>
            <a:ext cx="338328" cy="274320"/>
          </a:xfrm>
          <a:prstGeom prst="lef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3675887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822191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3803903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23367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Build + submit milestone evidence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8641080" y="4169663"/>
            <a:ext cx="338328" cy="274320"/>
          </a:xfrm>
          <a:prstGeom prst="lef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92040" y="3675887"/>
            <a:ext cx="3657600" cy="13258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3207" y="3822191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Mono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33288" y="3803903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Mono"/>
              </a:rPr>
              <a:t>GOVERNMENT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7" y="423367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Noto Sans"/>
              </a:rPr>
              <a:t>Approve milestones + validate outcome</a:t>
            </a:r>
          </a:p>
        </p:txBody>
      </p:sp>
      <p:sp>
        <p:nvSpPr>
          <p:cNvPr id="45" name="Left Arrow 44"/>
          <p:cNvSpPr/>
          <p:nvPr/>
        </p:nvSpPr>
        <p:spPr>
          <a:xfrm>
            <a:off x="4480559" y="4169663"/>
            <a:ext cx="338328" cy="274320"/>
          </a:xfrm>
          <a:prstGeom prst="lef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675887"/>
            <a:ext cx="3657600" cy="13258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3822191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72768" y="3803903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COMMUNITY / PUBLIC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423367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Noto Sans"/>
              </a:rPr>
              <a:t>Feedback + approved 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266944"/>
            <a:ext cx="1682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CONTROLLED BRANCHES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632704"/>
            <a:ext cx="5257800" cy="960120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5779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INFORMATION REQUEST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3472" y="5705856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Government asks the citizen for missing detail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5632704"/>
            <a:ext cx="5257800" cy="960120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9672" y="5779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DECLINE / REALLOCATE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2" y="5705856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A university decline returns the challenge for allocation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978640" y="5632704"/>
            <a:ext cx="5257800" cy="960120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143232" y="5779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REVISION LOOP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880592" y="5705856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Proposal, milestone or outcome changes return to the university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6967728"/>
            <a:ext cx="16824960" cy="21031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722376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Mono"/>
              </a:rPr>
              <a:t>GEMINI ASSISTS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7754112"/>
            <a:ext cx="117957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Noto Sans"/>
              </a:rPr>
              <a:t>Classification  /  priority rationale  /  bilingual drafts  /  duplicate hints  /  university matches  /  outcome evidence gaps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395960" y="7360920"/>
            <a:ext cx="365760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642848" y="7534656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FA7"/>
                </a:solidFill>
                <a:latin typeface="Noto Sans Mono"/>
              </a:rPr>
              <a:t>HUMANS DECIDE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642848" y="801014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Publish · assign · approve · validate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01168"/>
            <a:ext cx="1508760" cy="475488"/>
          </a:xfrm>
          <a:prstGeom prst="rect">
            <a:avLst/>
          </a:prstGeom>
          <a:solidFill>
            <a:srgbClr val="FAFAF8"/>
          </a:solidFill>
          <a:ln w="1524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194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BILLUSENA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28016"/>
            <a:ext cx="1344168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A0A0A"/>
                </a:solidFill>
                <a:latin typeface="Noto Sans"/>
              </a:rPr>
              <a:t>TECHNICAL APPROACH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804672"/>
            <a:ext cx="13487400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9893808"/>
            <a:ext cx="18288000" cy="3931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99395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BilluSena · JanSetu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59" y="99395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03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69848"/>
            <a:ext cx="16824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FA7"/>
                </a:solidFill>
                <a:latin typeface="Noto Sans Mono"/>
              </a:rPr>
              <a:t>Browser /api/v1  →  FastAPI business rules  →  PostgreSQL + private evidence  ↔  Gemini advisory services</a:t>
            </a:r>
          </a:p>
        </p:txBody>
      </p:sp>
      <p:pic>
        <p:nvPicPr>
          <p:cNvPr id="11" name="Picture 10" descr="tech-sta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" y="1536192"/>
            <a:ext cx="16971264" cy="67848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8540496"/>
            <a:ext cx="809244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87142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8613648"/>
            <a:ext cx="6236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Argon2 · random DB sessions · HttpOnly cookies · origin checks · role + ownership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8540496"/>
            <a:ext cx="850392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871423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8613648"/>
            <a:ext cx="6473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Private disk storage · signature checks · 5 files × 20 MB · authorised downloads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01168"/>
            <a:ext cx="1508760" cy="475488"/>
          </a:xfrm>
          <a:prstGeom prst="rect">
            <a:avLst/>
          </a:prstGeom>
          <a:solidFill>
            <a:srgbClr val="FAFAF8"/>
          </a:solidFill>
          <a:ln w="1524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194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BILLUSENA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28016"/>
            <a:ext cx="1344168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A0A0A"/>
                </a:solidFill>
                <a:latin typeface="Noto Sans"/>
              </a:rPr>
              <a:t>FEASIBILITY AND VIABILITY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804672"/>
            <a:ext cx="13487400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9893808"/>
            <a:ext cx="18288000" cy="3931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99395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BilluSena · JanSetu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59" y="99395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1682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2FA7"/>
                </a:solidFill>
                <a:latin typeface="Noto Sans Mono"/>
              </a:rPr>
              <a:t>BUILDABLE NOW · EXPANDABLE WITH GOVERNMENT ADOPTION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72768"/>
            <a:ext cx="5257800" cy="24871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55448" b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2FA7"/>
                </a:solidFill>
                <a:latin typeface="Noto Sans Mono"/>
              </a:rPr>
              <a:t>01 / TECHNICAL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Next.js, FastAPI and PostgreSQL are proven production technologies.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Transactional lifecycle and access rules stay in the API.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Structured AI responses are validated before display.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1572768"/>
            <a:ext cx="5257800" cy="24871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55448" b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2FA7"/>
                </a:solidFill>
                <a:latin typeface="Noto Sans Mono"/>
              </a:rPr>
              <a:t>02 / ECONOMIC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Open-source core with usage-based hosting.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Neon, Cloud Run and Vercel scale independently.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Funding commitments remain separate from money received.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98680" y="1572768"/>
            <a:ext cx="5257800" cy="24871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55448" b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2FA7"/>
                </a:solidFill>
                <a:latin typeface="Noto Sans Mono"/>
              </a:rPr>
              <a:t>03 / OPERATIONAL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Four workspaces follow real stakeholder responsibilities.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Human approval protects government accountability.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0A0A0A"/>
                </a:solidFill>
                <a:latin typeface="Noto Sans"/>
              </a:rPr>
              <a:t>- Seed and migrations provide a repeatable demonstration.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RISKS → BUILT-IN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82896"/>
            <a:ext cx="10744200" cy="749808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5663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Noto Sans"/>
              </a:rPr>
              <a:t>AI 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5020056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Save first; retry transient failures; keep manual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61304"/>
            <a:ext cx="10744200" cy="749808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603504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Noto Sans"/>
              </a:rPr>
              <a:t>Unsafe public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5998464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Minimum lengths + bilingual government approval.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839712"/>
            <a:ext cx="10744200" cy="749808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7013448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Noto Sans"/>
              </a:rPr>
              <a:t>Access / upload abuse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6976872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Role checks, origin validation and file signatures.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7818120"/>
            <a:ext cx="10744200" cy="749808"/>
          </a:xfrm>
          <a:prstGeom prst="rect">
            <a:avLst/>
          </a:prstGeom>
          <a:solidFill>
            <a:srgbClr val="FAFAF8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7991856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Noto Sans"/>
              </a:rPr>
              <a:t>Ephemeral file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7955280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Move evidence to private object storage before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51792" y="4462272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PROPOSED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51792" y="4882896"/>
            <a:ext cx="914400" cy="74980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51792" y="502920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Mono"/>
              </a:rPr>
              <a:t>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0" y="5010912"/>
            <a:ext cx="3886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Noto Sans"/>
              </a:rPr>
              <a:t>Deployed MVP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508992" y="5632704"/>
            <a:ext cx="0" cy="237744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051792" y="5870448"/>
            <a:ext cx="914400" cy="74980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51792" y="601675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0" y="5998464"/>
            <a:ext cx="3886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Noto Sans"/>
              </a:rPr>
              <a:t>Pilot districts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508992" y="6620256"/>
            <a:ext cx="0" cy="237744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2051792" y="6858000"/>
            <a:ext cx="914400" cy="74980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51792" y="700430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0" y="6986016"/>
            <a:ext cx="3886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Noto Sans"/>
              </a:rPr>
              <a:t>Participating HEIs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508992" y="7607808"/>
            <a:ext cx="0" cy="237744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2051792" y="7845552"/>
            <a:ext cx="914400" cy="74980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51792" y="79918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0" y="7973568"/>
            <a:ext cx="3886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Noto Sans"/>
              </a:rPr>
              <a:t>Statewide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51792" y="894283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25252"/>
                </a:solidFill>
                <a:latin typeface="Noto Sans"/>
              </a:rPr>
              <a:t>Rollout phases are proposed; field adoption is not claimed.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01168"/>
            <a:ext cx="1508760" cy="475488"/>
          </a:xfrm>
          <a:prstGeom prst="rect">
            <a:avLst/>
          </a:prstGeom>
          <a:solidFill>
            <a:srgbClr val="FAFAF8"/>
          </a:solidFill>
          <a:ln w="1524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194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BILLUSENA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28016"/>
            <a:ext cx="1344168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A0A0A"/>
                </a:solidFill>
                <a:latin typeface="Noto Sans"/>
              </a:rPr>
              <a:t>IMPACT AND BENEFITS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804672"/>
            <a:ext cx="13487400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9893808"/>
            <a:ext cx="18288000" cy="3931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99395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BilluSena · JanSetu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59" y="99395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05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51560"/>
            <a:ext cx="1682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MEASUREMENT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481328"/>
            <a:ext cx="3703320" cy="6583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Noto Sans Mono"/>
              </a:rPr>
              <a:t>REPORTED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98848" y="1673352"/>
            <a:ext cx="347472" cy="256032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6048" y="1481328"/>
            <a:ext cx="3703320" cy="6583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1609344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Noto Sans Mono"/>
              </a:rPr>
              <a:t>ASSIGNED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3376" y="1673352"/>
            <a:ext cx="347472" cy="256032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0576" y="1481328"/>
            <a:ext cx="3703320" cy="65836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609344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Noto Sans Mono"/>
              </a:rPr>
              <a:t>DELIVERED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947904" y="1673352"/>
            <a:ext cx="347472" cy="256032"/>
          </a:xfrm>
          <a:prstGeom prst="rightArrow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05104" y="1481328"/>
            <a:ext cx="3703320" cy="65836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05104" y="1609344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Mono"/>
              </a:rPr>
              <a:t>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487168"/>
            <a:ext cx="7543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VALUE FOR EACH PARTICIPANT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71216"/>
            <a:ext cx="754380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02666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01 / CITIZEN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990088"/>
            <a:ext cx="50109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Noto Sans"/>
              </a:rPr>
              <a:t>Bilingual reporting, progress visibility and optional feedback.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33087"/>
            <a:ext cx="754380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2885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02 / GOVERNMENT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51959"/>
            <a:ext cx="50109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Noto Sans"/>
              </a:rPr>
              <a:t>Review, allocation, approvals, audit history and analytics.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754380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5504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03 /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513832"/>
            <a:ext cx="50109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Noto Sans"/>
              </a:rPr>
              <a:t>Real problem statements, multidisciplinary teams and delivery.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656831"/>
            <a:ext cx="7543800" cy="987552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6812279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FA7"/>
                </a:solidFill>
                <a:latin typeface="Noto Sans Mono"/>
              </a:rPr>
              <a:t>04 / INDUSTRY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6775703"/>
            <a:ext cx="50109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Noto Sans"/>
              </a:rPr>
              <a:t>Reviewed opportunities matched to practical support.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2487168"/>
            <a:ext cx="8759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WORKING MVP EVIDENCE</a:t>
            </a:r>
          </a:p>
        </p:txBody>
      </p:sp>
      <p:pic>
        <p:nvPicPr>
          <p:cNvPr id="36" name="Picture 35" descr="mvp-proo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6528" y="2871216"/>
            <a:ext cx="8759952" cy="277063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8796528" y="5833872"/>
            <a:ext cx="4279392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286232" y="5833872"/>
            <a:ext cx="4270248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796528" y="5971032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5252"/>
                </a:solidFill>
                <a:latin typeface="Noto Sans Mono"/>
              </a:rPr>
              <a:t>GOVERNMENT REVIEW · HINDI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86232" y="5971032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5252"/>
                </a:solidFill>
                <a:latin typeface="Noto Sans Mono"/>
              </a:rPr>
              <a:t>INDUSTRY AI MATCHING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6455664"/>
            <a:ext cx="8759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37373"/>
                </a:solidFill>
                <a:latin typeface="Noto Sans Mono"/>
              </a:rPr>
              <a:t>SEEDED DEMO SCALE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96528" y="6876288"/>
            <a:ext cx="1874519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96528" y="7004303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002FA7"/>
                </a:solidFill>
                <a:latin typeface="Noto San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7589519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demo accounts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045952" y="6876288"/>
            <a:ext cx="1874520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045952" y="7004303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002FA7"/>
                </a:solidFill>
                <a:latin typeface="Noto Sans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45952" y="7589519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demo challenges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295376" y="6876288"/>
            <a:ext cx="1874520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295376" y="7004303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002FA7"/>
                </a:solidFill>
                <a:latin typeface="Noto San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95376" y="7589519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institutions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5544800" y="6876288"/>
            <a:ext cx="1874520" cy="0"/>
          </a:xfrm>
          <a:prstGeom prst="line">
            <a:avLst/>
          </a:prstGeom>
          <a:ln w="2540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5544800" y="7004303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002FA7"/>
                </a:solidFill>
                <a:latin typeface="Noto San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0" y="7589519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Noto Sans"/>
              </a:rPr>
              <a:t>lifecycle stages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8430768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25252"/>
                </a:solidFill>
                <a:latin typeface="Noto Sans"/>
              </a:rPr>
              <a:t>Public pages expose approved summaries and aggregate outcomes only. These numbers demonstrate MVP coverage, not measured field impact.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6863" y="100584"/>
            <a:ext cx="203911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01168"/>
            <a:ext cx="1508760" cy="475488"/>
          </a:xfrm>
          <a:prstGeom prst="rect">
            <a:avLst/>
          </a:prstGeom>
          <a:solidFill>
            <a:srgbClr val="FAFAF8"/>
          </a:solidFill>
          <a:ln w="1524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194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FA7"/>
                </a:solidFill>
                <a:latin typeface="Noto Sans Mono"/>
              </a:rPr>
              <a:t>BILLUSENA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28016"/>
            <a:ext cx="1344168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A0A0A"/>
                </a:solidFill>
                <a:latin typeface="Noto Sans"/>
              </a:rPr>
              <a:t>RESEARCH AND REFERENCES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804672"/>
            <a:ext cx="13487400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9893808"/>
            <a:ext cx="18288000" cy="3931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99395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BilluSena · JanSetu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59" y="99395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Mono"/>
              </a:rPr>
              <a:t>06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6812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DEMO +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36192"/>
            <a:ext cx="6812280" cy="1143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0078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574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 Mono"/>
              </a:rPr>
              <a:t>jansetu-jharkhand.vercel.app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6812280" cy="1143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8211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API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38727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 Mono"/>
              </a:rPr>
              <a:t>jansetu-api-595351864949.us-east4.run.app/api/v1/health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98848"/>
            <a:ext cx="6812280" cy="1143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66344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PRIVATE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200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 Mono"/>
              </a:rPr>
              <a:t>github.com/kdxgautam/SIH-jansetu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6812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PROBLEM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565392"/>
            <a:ext cx="6812280" cy="239572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55448" bIns="109728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2FA7"/>
                </a:solidFill>
                <a:latin typeface="Noto Sans Mono"/>
              </a:rPr>
              <a:t>WHY JANSETU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0A0A0A"/>
                </a:solidFill>
                <a:latin typeface="Noto Sans"/>
              </a:rPr>
              <a:t>- SIH 26043 asks for crowdsourced societal challenges and collaborative problem solving.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0A0A0A"/>
                </a:solidFill>
                <a:latin typeface="Noto Sans"/>
              </a:rPr>
              <a:t>- NEP 2020 supports experiential, multidisciplinary and industry-linked learning.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0A0A0A"/>
                </a:solidFill>
                <a:latin typeface="Noto Sans"/>
              </a:rPr>
              <a:t>- The portal connects those goals through an auditable government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1078992"/>
            <a:ext cx="9582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FA7"/>
                </a:solidFill>
                <a:latin typeface="Noto Sans Mono"/>
              </a:rPr>
              <a:t>PRIMARY TECHNICAL REFERENCES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1527048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73568" y="1691639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645919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Gemini structured output · ai.google.dev/gemini-api/docs/structured-output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73568" y="2569463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73568" y="27340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688335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Vertex ADC · cloud.google.com/vertex-ai/generative-ai/docs/start/quickstart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73568" y="3611879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73568" y="37764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730752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Next.js · nextjs.org/docs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73568" y="4654296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73568" y="48188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773168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FastAPI · fastapi.tiangolo.com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73568" y="5696712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73568" y="5861303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5815583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PostgreSQL · postgresql.org/docs   /   Neon · neon.tech/docs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73568" y="6739127"/>
            <a:ext cx="9582912" cy="0"/>
          </a:xfrm>
          <a:prstGeom prst="line">
            <a:avLst/>
          </a:prstGeom>
          <a:ln w="1016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73568" y="6903719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FA7"/>
                </a:solidFill>
                <a:latin typeface="Noto Sans Mono"/>
              </a:rPr>
              <a:t>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6857999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Noto Sans"/>
              </a:rPr>
              <a:t>Cloud Run · cloud.google.com/run/docs   /   Vercel · vercel.com/docs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3568" y="8046720"/>
            <a:ext cx="9582912" cy="914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8238744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Mono"/>
              </a:rPr>
              <a:t>DEMO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8174736"/>
            <a:ext cx="70591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"/>
              </a:rPr>
              <a:t>Seeded data · no field-impact claims · not an official government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DAHUgf9quW4</dc:identifier>
  <dcterms:modified xsi:type="dcterms:W3CDTF">2011-08-01T06:04:30Z</dcterms:modified>
  <cp:revision>1</cp:revision>
  <dc:title>JanSetu - SIH 26043</dc:title>
  <dc:subject>Bilingual societal innovation portal for Jharkhand</dc:subject>
  <dc:creator>BilluSena</dc:creator>
</cp:coreProperties>
</file>